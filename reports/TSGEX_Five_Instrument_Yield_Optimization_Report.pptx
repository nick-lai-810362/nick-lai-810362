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百萬美元淨年化收益率（%）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淨年化收益率 Net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保守情境
(5.0% gross)</c:v>
                  </c:pt>
                  <c:pt idx="1">
                    <c:v>基準情境
(12.1% gross)</c:v>
                  </c:pt>
                  <c:pt idx="2">
                    <c:v>樂觀情境
(20%+ gross)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10.29</c:v>
                </c:pt>
                <c:pt idx="2">
                  <c:v>17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年化利率對比（%）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行銷頭牌利率（小額適用）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百萬美元 Effective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2.98</c:v>
                </c:pt>
                <c:pt idx="1">
                  <c:v>1.5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綜合加權年化 Blended APY（%）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模型A
穩健防禦型</c:v>
                  </c:pt>
                  <c:pt idx="1">
                    <c:v>模型B
平衡收益型</c:v>
                  </c:pt>
                  <c:pt idx="2">
                    <c:v>模型C
戰術成長型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12.15</c:v>
                </c:pt>
                <c:pt idx="1">
                  <c:v>17.36</c:v>
                </c:pt>
                <c:pt idx="2">
                  <c:v>22.56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4572000" cy="45720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3657600" cy="3657600"/>
          </a:xfrm>
          <a:prstGeom prst="ellipse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自有流動資金收益優化可行性評估報告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五大主流工具數據穿透、風險剖析與財務部資產配置決策矩陣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977640"/>
            <a:ext cx="300380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3003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 Margin Funding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91356" y="39776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1356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活期理財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1788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1788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活期理財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52844" y="3977640"/>
            <a:ext cx="90068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52844" y="3977640"/>
            <a:ext cx="900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雙幣贏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雙幣投資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提案呈送：財務部（Treasury &amp; Finance）｜風險管理委員會｜投資委員會（IC）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內部機密（Internal Confidential）｜2026年9月｜文件編號 TSGEX-AM-2026-0904-R2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五大標的之收益光譜定位——本報告以數據呈現機制與風險，配置決策保留予財務部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Margin Funding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出借利息｜P2P超額抵押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零方向性曝險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4.25%–17.0%+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0944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80944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80944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1.7%–4.3%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84064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4865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8656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48656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48656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1.5%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51776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1636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雙幣贏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16368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16368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16368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名目 4%–138%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619488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84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雙幣投資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84080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4080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4%–138%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核心財務基準：SOFR / 3M T-Bill ≈ 4.5%＋150–200 bps 流動性溢價（政策基準）；即時市場 SOFR（2026-09-01）為 3.66%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49808" y="554126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本報告定位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" y="589788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工具視為功能各異之「資產配置積木」，涵蓋純固定收益、資金池活期收益、賣方結構型衍生品三種收益本質；報告以呈現真實金融工程機制、數據試算與風險因子為唯一目的，最終配置決策保留予財務部與投資委員會依風險偏好判斷。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財務基準與研究揭露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即時聯網檢索校驗（檢索時間：2026 年 9 月）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4.5%+150–200bps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公司內部政策性 Hurdle Rate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605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3.66%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SOFR（2026-09-01，NY Fed）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600200"/>
            <a:ext cx="38679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09560" y="1709928"/>
            <a:ext cx="3593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本報告採用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044952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計算超額利差（Alpha）時，統一以即時市場 SOFR 3.66% 為客觀基準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" y="3895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研究方法揭露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51960"/>
            <a:ext cx="503834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本報告所引用之各平台利率、費用結構、儲備金證明與雙幣理財機制，均經即時聯網檢索取得（Bitfinex Help Center / EarnUSD、OKX Help Center、Binance 官方公告、NY Fed FRED 資料庫等），完整來源列示於報告末章「資料來源與檢索時間」。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749040"/>
            <a:ext cx="5468112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73368" y="3895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客觀中立原則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4251960"/>
            <a:ext cx="506577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全篇報告聚焦「100% 公開、透明、真實」之底層邏輯、真實收益率計算與具體風險因子，不對任一標的下達主觀否定性結論；五項工具均視為可依風險偏好調整權重之配置積木。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 USD Margin Funding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保證金撮合機制與美元法幣屬性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訂單簿撮合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53619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出借人掛出金額／利率／天期，依價格與時間優先原則自動撮合，資訊透明度高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94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借款人超額抵押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19456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原始保證金率約為部位名目價值之 15%–33%（最高槓桿約 3–6.6 倍）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8529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維持保證金與清算引擎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8529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保證金比率跌破約 15% 時自動觸發強制減倉，優先以借款人擔保品償付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112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出借人優先受償權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51129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求償順位優先於借款人自身權益；強平引擎完成減倉前，出借人本金不受影響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47141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為何選擇 USD 法幣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828032"/>
            <a:ext cx="5038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零幣價波動（Delta-Neutral），本金無方向性曝險；無穩定幣脫錨疑慮；可直接列示為現金及約當現金，符合 GAAP/IFRS 認列規範，會計處理最單純。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325112"/>
            <a:ext cx="5468112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73368" y="4471416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利差階梯掛單授權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828032"/>
            <a:ext cx="50657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常態（APR&lt;15%）：2–7 天短天期滾存｜高息溢價期（APR≥15%）：開放至 15–30 天鎖定超額利潤｜極端波動期（APR≥30%+）：專案彈性授權至 60–120 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Bitfinex：即時市場數據與百萬美元試算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檢索日：2026 年 9 月｜扣除平台 15% 服務費後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12.1%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 USD 出借日均 APR（扣費前）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3%–20%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FRR 歷史區間（每小時更新）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 / 18%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標準／隱藏掛單服務費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508760"/>
            <a:ext cx="286207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618488"/>
            <a:ext cx="2587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+663 bps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496312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基準情境相較即時 SOFR 超額利差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154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246120"/>
          <a:ext cx="47823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37160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淨年化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年度淨利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月度淨利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保守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$42,500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$3,541.7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基準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$102,850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$8,570.8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樂觀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17.0%+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$170,000+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$14,166.7+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858000" y="534924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 $1,000,000｜相較即時 SOFR（3.66%）：保守 +59bps／基準 +663bps／樂觀 +1,334bps+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OKX USDT 活期理財（Simple Earn 靈活）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OKX 整體借貸資金池，每小時依借貸需求排序出借申請，構成表內無擔保信用曝險。儲備金證明：第 45 期月度 PoR（2026年8月），鏈上錢包合計約 232.3 億美元，主要資產覆蓋率維持 100% 以上。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階梯利率與費用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 500 USDT 享 Bonus APR 最高 10.00%；超過額度部分依市場浮動 APR 計息。平台費用 15%：小時報酬 = 出借金額 × APR ÷ 365 ÷ 24 × 85%。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097280"/>
                <a:gridCol w="13716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名目 APR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淨 APR（扣15%）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0 – 500（Bonus）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$42.50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 – 1,000,000（市場浮動，中位 3.5%）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999,500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2.975%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$29,735.13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$29,777.63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2.98%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APY（中位情境）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1.70%–4.25%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74243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浮動區間（市場APR 2%–5%）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Binance USDT 活期理財（Simple Earn 活期）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Binance 整體資金池，依 Real-Time APR（每分鐘更新）計息。SAFU 保護基金：2026年2月完成組成調整，原約10億美元穩定幣儲備轉換為約15,000枚BTC，承諾跌破8億美元將補充；整體 PoR 截至2025年底約1,628億美元。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階梯利率（官方實例）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USDT Flexible：Real-Time APR 約 1.5%；前 200 USDT 另享 Bonus Tiered APR 3.0%（合計約 4.5%）。另有促銷公告「最高可達 6% APR」，惟同樣僅適用於極小額促銷級距。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適用利率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0 – 200（Real-Time + Bonus）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$9.00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 – 1,000,000（Real-Time APR）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999,800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$14,997.00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$15,006.00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1.50%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85048" y="5221224"/>
            <a:ext cx="3054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Bonus 級距僅佔百萬資金之 0.02%，機構規模有效年化幾乎完全收斂至 Real-Time APR 基礎利率。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活期理財：頭牌利率 vs. 機構規模真實年化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百萬美元資金之「階梯利率稀釋效應」量化對比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508760"/>
            <a:ext cx="4233672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18488"/>
            <a:ext cx="3959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$84,878 / $44,994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54203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/ Binance 年度資本拖累（Capital Drag）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63240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20954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財務部審查重點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66160"/>
            <a:ext cx="38313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行銷頁面高年化僅具「獲客展示」意義，對百萬美元等級機構資金不具實質參考價值。若整筆 $1,000,000 均比照行銷頭牌利率估算，OKX 與 Binance 之實際年度利息分別短少約 $84,878 與 $44,994——此為配置活期理財時應納入之機會成本。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OKX 雙幣贏（Dual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選擇權權利金本質與百萬資金情境損益試算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金融工程本質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低買（Buy Low）＝出售看跌期權（Short Put）；高賣（Sell High）＝出售看漲期權（Short Call）。年化利率＝固定報酬率×365÷Term，本質為選擇權權利金之年化換算，而非傳統利息。「距離現貨越近，年化越高，但轉換機率亦提高」（OKX官方說明）。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68112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09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示意範例設定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1965960"/>
            <a:ext cx="50657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BTC/USDT 現貨 $60,000｜行使價 $57,000（價外5%）｜天期 7天｜示意年化 45%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權利金收入 ≈ $8,630.14（本金 $1,000,000）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65176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結算條件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期末總值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單週報酬率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情境1：價外到期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≥ $57,000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$1,008,630.14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+0.86%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情境2：小幅價內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$55,000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$973,542.44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-2.65%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情境3：深度價內（暴跌25%）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$45,000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$798,104.74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-20.19%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40410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760720"/>
            <a:ext cx="1069207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設定目標價逢低分批建倉：於等待建倉價位期間同時賺取權利金｜② 震盪市掛深度價外（OTM 10%+）收益增強：降低轉換機率，以較低年化換取較高本金安全邊際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Binance 雙幣投資（Dual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OKX 之產品架構對比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5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Binance 雙幣投資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OKX 雙幣贏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產品期限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 天至數週不等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依市場條件動態設定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標的資產豐富度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 及多組主流交易對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BTC、ETH、USDT，六種投資策略組合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交割時間點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依產品條款固定時點交割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每日 UTC+8 16:30 結算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特色功能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Auto-Compound：Basic／Advanced方案，依是否觸及目標價自動再訂閱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提前贖回（Early Redemption）：可主動平倉，惟通常犧牲部分權利金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544568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4%–138%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42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官方揭露存款貨幣年化區間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43484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581144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歷史高點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4937760"/>
            <a:ext cx="32552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部分特定高波動性商品之歷史公告年化甚至達 175%。行使價越接近現貨、天期越短，年化通常越高，但轉換機率亦同步提高，與 OKX 定價邏輯一致。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38160" y="4434840"/>
            <a:ext cx="3502152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39328" y="4581144"/>
            <a:ext cx="3099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39328" y="4937760"/>
            <a:ext cx="30998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高賣獲利了結：對已持有 BTC/ETH 部位設定目標賣出價｜低買策略性積累：搭配 Auto-Compound 系統化執行，惟須留意連續期間累積曝險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財務部專題：會計處理與外部審計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IFRS 認列基礎與 Big 4 查核複雜度對比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38328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Bitfinex USD 放貸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活期理財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雙幣理財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建議會計科目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現金及約當現金／短期金融資產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虛擬資產存貨或無形資產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嵌入式衍生工具（FVTPL）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計價貨幣風險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有（USDT 脫錨風險）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有（計價幣別＋標的雙重波動）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期末公允價值評價模型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不需複雜評價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需依市價評價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需選擇權定價模型（Black-Scholes）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減損測試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適用（拆解主合約與衍生工具）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外部審計函證難度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中等偏難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合規成本（相對排序）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五大策略綜合決策矩陣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Comprehensive Comparison Matrix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2048256"/>
                <a:gridCol w="2048256"/>
                <a:gridCol w="2048256"/>
                <a:gridCol w="2048256"/>
                <a:gridCol w="20482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OKX雙幣贏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收益本質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利息收入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百萬資金 APY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4.25–17.0%+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1.70–4.25%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約1.50%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名目4–138%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官方4–138%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本金保障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不受市場方向影響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Delta 風險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流動性召回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天期鎖定(2–120天)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會計複雜度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財務部資產配置模擬模型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三種全配置權重方案｜本金 $1,000,000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777240"/>
                <a:gridCol w="868680"/>
                <a:gridCol w="731520"/>
                <a:gridCol w="896112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年度收益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A 穩健防禦型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$121,500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B 平衡收益型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$173,600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C 戰術成長型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$225,600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20440"/>
            <a:ext cx="5468112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666744"/>
            <a:ext cx="5065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無方向性曝險部位佔比：A 75%／B 55%／C 40%｜T+0 流動性緩衝均為 20%｜雙幣理財曝險合計：A 10%／B 25%／C 40%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方法論揭露（重要）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66360"/>
            <a:ext cx="10692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雙幣理財之 45% 年化係採「未觸及行使價（價外到期）」情境計算，未反映觸價本金轉換損失。若納入機率加權情境分析，實際綜合年化將視市場波動與觸價機率顯著偏離本表數字，甚至於單一結算週期內轉為負值，詳見報告第 6、7 章情境試算。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內控架構與推進時程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533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最小授權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3533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僅開放出借／理財申購，物理封閉提幣與轉帳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391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白名單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39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固定內部 VPC 出口 IP，企業 KMS 加密金鑰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249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OTM 緩衝門檻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724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雙幣理財行使價距離建議 ≥ 8%，納入交易員 SOP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Kill-Switch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107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異常事件自動預警，觸發後停止新單並緊急處置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93992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93992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會簽授權與 API 設定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93992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48472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67344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67344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小規模沙盒試點（五項工具）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21824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40696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140696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常態化配置與自動化部署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0140696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結束後 1 個月內啟動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請財務部、風控委員會與法遵室完成本報告會簽，核定 Phase 1 啟動時程與各平台曝險上限、雙幣理財 OTM 緩衝門檻，以及模型 A／B／C 或客製化配置權重。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2026-09-04T09:32:57Z</dcterms:created>
  <dcterms:modified xsi:type="dcterms:W3CDTF">2026-09-04T09:32:57Z</dcterms:modified>
</cp:coreProperties>
</file>