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Microsoft JhengHe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Microsoft JhengHei"/>
              </a:rPr>
              <a:t>百萬美元淨年化收益率（%）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淨年化收益率 Net APY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保守情境
(5.0% gross)</c:v>
                  </c:pt>
                  <c:pt idx="1">
                    <c:v>基準情境
(12.1% gross)</c:v>
                  </c:pt>
                  <c:pt idx="2">
                    <c:v>樂觀情境
(20%+ gross)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4.25</c:v>
                </c:pt>
                <c:pt idx="1">
                  <c:v>10.29</c:v>
                </c:pt>
                <c:pt idx="2">
                  <c:v>17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Microsoft JhengHe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Microsoft JhengHei"/>
              </a:rPr>
              <a:t>年化利率對比（%）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行銷頭牌利率（小額適用）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OKX 活期</c:v>
                  </c:pt>
                  <c:pt idx="1">
                    <c:v>Binance 活期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百萬美元 Effective APY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OKX 活期</c:v>
                  </c:pt>
                  <c:pt idx="1">
                    <c:v>Binance 活期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2.98</c:v>
                </c:pt>
                <c:pt idx="1">
                  <c:v>1.5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Microsoft JhengHei"/>
              <a:cs typeface="Microsoft Jheng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Microsoft JhengHei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Microsoft JhengHei"/>
              </a:rPr>
              <a:t>綜合加權年化 Blended APY（%）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Blended APY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模型A
穩健防禦型</c:v>
                  </c:pt>
                  <c:pt idx="1">
                    <c:v>模型B
平衡收益型</c:v>
                  </c:pt>
                  <c:pt idx="2">
                    <c:v>模型C
戰術成長型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12.15</c:v>
                </c:pt>
                <c:pt idx="1">
                  <c:v>17.36</c:v>
                </c:pt>
                <c:pt idx="2">
                  <c:v>22.56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icrosoft Jheng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4572000" cy="45720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自有流動資金收益優化可行性評估報告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五大主流工具數據穿透、風險剖析與財務部資產配置決策矩陣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2926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977640"/>
            <a:ext cx="3003804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3003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Bitfinex USD Margin Funding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91356" y="39776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91356" y="3977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 活期理財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1788" y="397764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1788" y="39776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Binance 活期理財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52844" y="3977640"/>
            <a:ext cx="900684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52844" y="3977640"/>
            <a:ext cx="9006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 雙幣贏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3977640"/>
            <a:ext cx="1426464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397764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Binance 雙幣投資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提案呈送：財務部（Treasury &amp; Finance）｜風險管理委員會｜投資委員會（IC）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內部機密（Internal Confidential）｜2026年9月｜文件編號 TSGEX-AM-2026-0904-R2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執行摘要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五大標的之收益光譜定位——本報告以數據呈現機制與風險，配置決策保留予財務部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Bitfinex USD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Margin Funding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175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出借利息｜P2P超額抵押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零方向性曝險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3232" y="3840480"/>
            <a:ext cx="17922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機構百萬資金 APY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1422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4.25%–17.0%+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16352" y="150876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0944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98094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22860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 USDT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活期理財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980944" y="30175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資金池利差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T+0 流動性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80944" y="3840480"/>
            <a:ext cx="17922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80944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機構百萬資金 APY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80944" y="41422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1.7%–4.3%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84064" y="150876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48656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4865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48656" y="22860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Binance USDT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活期理財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248656" y="30175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資金池利差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T+0 流動性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48656" y="3840480"/>
            <a:ext cx="17922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48656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機構百萬資金 APY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248656" y="41422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1.5%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51776" y="150876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163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16368" y="22860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雙幣贏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516368" y="30175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選擇權權利金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非保本結構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16368" y="3840480"/>
            <a:ext cx="17922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16368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機構百萬資金 APY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516368" y="41422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名目 4%–138%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619488" y="150876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784080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784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784080" y="2286000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Binance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雙幣投資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9784080" y="301752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選擇權權利金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非保本結構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784080" y="3840480"/>
            <a:ext cx="17922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84080" y="393192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機構百萬資金 APY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784080" y="4142232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 4%–138%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核心財務基準：SOFR / 3M T-Bill ≈ 4.5%＋150–200 bps 流動性溢價（政策基準）；即時市場 SOFR（2026-09-01）為 3.66%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49808" y="554126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本報告定位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" y="5897880"/>
            <a:ext cx="10692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項工具視為功能各異之「資產配置積木」，涵蓋純固定收益、資金池活期收益、賣方結構型衍生品三種收益本質；報告以呈現真實金融工程機制、數據試算與風險因子為唯一目的，最終配置決策保留予財務部與投資委員會依風險偏好判斷。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財務基準與研究揭露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即時聯網檢索校驗（檢索時間：2026 年 9 月）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099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4.5%+150–200bps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44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公司內部政策性 Hurdle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6052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709928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3.66%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3044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 SOFR（2026-09-01，NY Fed）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0" y="1600200"/>
            <a:ext cx="3867912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09560" y="1709928"/>
            <a:ext cx="35935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本報告採用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044952"/>
            <a:ext cx="3685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計算超額利差（Alpha）時，統一以即時市場 SOFR 3.66% 為客觀基準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389534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研究方法揭露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251960"/>
            <a:ext cx="503834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本報告所引用之各平台利率、費用結構、儲備金證明與雙幣理財機制，均經即時聯網檢索取得（Bitfinex Help Center / EarnUSD、OKX Help Center、Binance 官方公告、NY Fed FRED 資料庫等），完整來源列示於報告末章「資料來源與檢索時間」。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749040"/>
            <a:ext cx="5468112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73368" y="3895344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客觀中立原則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4251960"/>
            <a:ext cx="50657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全篇報告聚焦「100% 公開、透明、真實」之底層邏輯、真實收益率計算與具體風險因子，不對任一標的下達主觀否定性結論；五項工具均視為可依風險偏好調整權重之配置積木。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Bitfinex USD Margin Funding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P2P 保證金撮合機制與美元法幣屬性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361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P2P 訂單簿撮合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36192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出借人掛出金額／利率／天期，依價格與時間優先原則自動撮合，資訊透明度高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94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借款人超額抵押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194560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原始保證金率約為部位名目價值之 15%–33%（最高槓桿約 3–6.6 倍）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852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維持保證金與清算引擎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2852928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保證金比率跌破約 15% 時自動觸發強制減倉，優先以借款人擔保品償付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112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出借人優先受償權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3511296"/>
            <a:ext cx="7452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求償順位優先於借款人自身權益；強平引擎完成減倉前，出借人本金不受影響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25112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9808" y="4471416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為何選擇 USD 法幣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828032"/>
            <a:ext cx="50383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零幣價波動（Delta-Neutral），本金無方向性曝險；無穩定幣脫錨疑慮；可直接列示為現金及約當現金，符合 GAAP/IFRS 認列規範，會計處理最單純。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325112"/>
            <a:ext cx="5468112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73368" y="4471416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利差階梯掛單授權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4828032"/>
            <a:ext cx="50657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常態（APR&lt;15%）：2–7 天短天期滾存｜高息溢價期（APR≥15%）：開放至 15–30 天鎖定超額利潤｜極端波動期（APR≥30%+）：專案彈性授權至 60–120 天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Bitfinex：即時市場數據與百萬美元試算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檢索日：2026 年 9 月｜扣除平台 15% 服務費後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184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12.1%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 USD 出借日均 APR（扣費前）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6184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3%–20%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FRR 歷史區間（每小時更新）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161848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15% / 18%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963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標準／隱藏掛單服務費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78240" y="1508760"/>
            <a:ext cx="2862072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618488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+663 bps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496312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基準情境相較即時 SOFR 超額利差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8640" y="315468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246120"/>
          <a:ext cx="478231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371600"/>
                <a:gridCol w="121615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情境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淨年化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年度淨利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月度淨利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保守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4.25%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$42,500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$3,541.7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基準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10.29%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$102,850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$8,570.8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樂觀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17.0%+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$170,000+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$14,166.7+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6858000" y="5349240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 $1,000,000｜相較即時 SOFR（3.66%）：保守 +59bps／基準 +663bps／樂觀 +1,334bps+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OKX USDT 活期理財（Simple Earn 靈活）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階梯利率結構穿透：百萬美元規模真實有效年化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5506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運作架構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5038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 USDT 併入 OKX 整體借貸資金池，每小時依借貸需求排序出借申請，構成表內無擔保信用曝險。儲備金證明：第 45 期月度 PoR（2026年8月），鏈上錢包合計約 232.3 億美元，主要資產覆蓋率維持 100% 以上。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68112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655064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階梯利率與費用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011680"/>
            <a:ext cx="50657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500 USDT 享 Bonus APR 最高 10.00%；超過額度部分依市場浮動 APR 計息。平台費用 15%：小時報酬 = 出借金額 × APR ÷ 365 ÷ 24 × 85%。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74066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1097280"/>
                <a:gridCol w="13716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級距（USDT）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金額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名目 APR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淨 APR（扣15%）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利息貢獻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 – 500（Bonus）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10.00%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8.50%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$42.50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500 – 1,000,000（市場浮動，中位 3.5%）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999,500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3.50%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2.975%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$29,735.13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合計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1,000,000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$29,777.63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183880" y="356616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67588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2.98%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553712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加權平均 Effective APY（中位情境）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83880" y="5074920"/>
            <a:ext cx="3456432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21040" y="518464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1.70%–4.25%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5742432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浮動區間（市場APR 2%–5%）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Binance USDT 活期理財（Simple Earn 活期）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階梯利率結構穿透：百萬美元規模真實有效年化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5506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運作架構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503834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用戶 USDT 併入 Binance 整體資金池，依 Real-Time APR（每分鐘更新）計息。SAFU 保護基金：2026年2月完成組成調整，原約10億美元穩定幣儲備轉換為約15,000枚BTC，承諾跌破8億美元將補充；整體 PoR 截至2025年底約1,628億美元。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68112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655064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階梯利率（官方實例）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011680"/>
            <a:ext cx="50657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USDT Flexible：Real-Time APR 約 1.5%；前 200 USDT 另享 Bonus Tiered APR 3.0%（合計約 4.5%）。另有促銷公告「最高可達 6% APR」，惟同樣僅適用於極小額促銷級距。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7406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級距（USDT）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金額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適用利率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利息貢獻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0 – 200（Real-Time + Bonus）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200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4.50%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$9.00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200 – 1,000,000（Real-Time APR）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999,800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1.50%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$14,997.00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合計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1,000,000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$15,006.00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183880" y="356616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21040" y="3675888"/>
            <a:ext cx="3182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1.50%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4553712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加權平均 Effective APY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83880" y="5074920"/>
            <a:ext cx="3456432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85048" y="5221224"/>
            <a:ext cx="30540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Bonus 級距僅佔百萬資金之 0.02%，機構規模有效年化幾乎完全收斂至 Real-Time APR 基礎利率。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活期理財：頭牌利率 vs. 機構規模真實年化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百萬美元資金之「階梯利率稀釋效應」量化對比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508760"/>
            <a:ext cx="4233672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543800" y="1618488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$84,878 / $44,994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542032"/>
            <a:ext cx="4050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OKX / Binance 年度資本拖累（Capital Drag）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06640" y="3063240"/>
            <a:ext cx="4233672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07808" y="3209544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財務部審查重點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3566160"/>
            <a:ext cx="383133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行銷頁面高年化僅具「獲客展示」意義，對百萬美元等級機構資金不具實質參考價值。若整筆 $1,000,000 均比照行銷頭牌利率估算，OKX 與 Binance 之實際年度利息分別短少約 $84,878 與 $44,994——此為配置活期理財時應納入之機會成本。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OKX 雙幣贏（Dual Investment）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選擇權權利金本質與百萬資金情境損益試算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金融工程本質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5038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低買（Buy Low）＝出售看跌期權（Short Put）；高賣（Sell High）＝出售看漲期權（Short Call）。年化利率＝固定報酬率×365÷Term，本質為選擇權權利金之年化換算，而非傳統利息。「距離現貨越近，年化越高，但轉換機率亦提高」（OKX官方說明）。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68112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73368" y="1609344"/>
            <a:ext cx="5065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示意範例設定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1965960"/>
            <a:ext cx="50657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BTC/USDT 現貨 $60,000｜行使價 $57,000（價外5%）｜天期 7天｜示意年化 45%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權利金收入 ≈ $8,630.14（本金 $1,000,000）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651760"/>
                <a:gridCol w="20391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情境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結算條件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期末總值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單週報酬率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情境1：價外到期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結算價 ≥ $57,000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$1,008,630.14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+0.86%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情境2：小幅價內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結算價 $55,000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$973,542.44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-2.65%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情境3：深度價內（暴跌25%）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結算價 $45,000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$798,104.74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-20.19%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9808" y="540410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財務運用場景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5760720"/>
            <a:ext cx="1069207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設定目標價逢低分批建倉：於等待建倉價位期間同時賺取權利金，等同「限價單＋額外收益」的複合工具｜② 震盪市掛深度價外（OTM 10%+）收益增強：降低轉換機率，以較低年化換取較高本金安全邊際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進階操作：滾動掛單策略，提高解套後之勝率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本金轉為 BTC 後持續以同一行使價反向掛「高賣」收取權利金，等待價格回升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5038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怎麼做？（Covered-Call Wheel 概念）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65960"/>
            <a:ext cx="50383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低買轉換為 BTC 後，② 立即以持有之 BTC、相同行使價（$55,900）掛出「高賣」收取權利金；③ 若到期未漲破，繼續持有 BTC 並重複掛單；④ 一旦漲破，BTC 依原行使價換回 USDT，本金名目值完整取回，且期間累積之權利金全數保留。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63040"/>
          <a:ext cx="546811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947672"/>
                <a:gridCol w="914400"/>
                <a:gridCol w="10058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週期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操作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示意年化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本期權利金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結算結果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第1週 低買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$1,000,000→轉換為17.8891 BTC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40%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$7,671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跌破，轉換為BTC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第2週 高賣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同一行使價 $55,900 滾動掛單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32%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$5,823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未漲破，續留BTC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第3週 高賣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同一行使價 $55,900 滾動掛單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38%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$7,042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漲破，換回USDT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611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37216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+2.05%（3週）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645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本例路徑：本金全數取回＋累積權利金 $20,535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36118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34840" y="37216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-28.4%（未實現）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6451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對照情境：10週價格未回升，帳面浮虧 $284,436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01000" y="3611880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02168" y="375818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執行紀律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02168" y="4114800"/>
            <a:ext cx="32369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只要維持同一（或更高）行使價滾動、不因情緒而任意下修，價格回升後即保證取回本金加計期間權利金。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521208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9808" y="535838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配套治理措施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" y="5715000"/>
            <a:ext cx="106920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建議搭配停利機制（見下頁），可顯著提升整體年化並大幅降低虧損機率｜② 資金應規劃為獨立風險預算，不佔用日常營運流動性｜③ 依 FVTPL 原則按季揭露未實現評價，確保財務透明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全年模擬：勝率驗證與治理重點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蒙地卡羅模擬（20,000條路徑）｜現貨$77,000｜年化波動55%｜權利金已校準至125%(ATM)，非武斷假設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2194560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規則1：最高收益(ATM)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規則2：不被轉換(OTM緩衝)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【已平倉】占比 ／ 平均年化 ／ 虧損機率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5.5% ／ +38.5% ／ 0%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8.1% ／ +16.0% ／ 0%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【未平倉，年末快照】占比 ／ 平均年化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94.5% ／ -20.5%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92.0% ／ -28.3%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混合平均年化（原始揭露方式）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-17.2%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-24.7%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00200"/>
            <a:ext cx="3364992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709928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已平倉路徑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100%正報酬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67919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只要完整走完一輪，必然是正報酬——驗證了機制設計的本質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75320" y="324612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76488" y="3392424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關鍵治理重點：週期長度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76488" y="3749040"/>
            <a:ext cx="296265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5.5%~8.1%的路徑能在一年內走完並實現獲利；其餘部位年末仍在持有中，代表這是一個「存續期間不固定」的部位，而非「已虧損」——需要的是主動管理與時間規劃，而非視為零風險之現金管理工具。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75895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9808" y="3941064"/>
            <a:ext cx="7187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為什麼週期長度不固定？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4297680"/>
            <a:ext cx="71871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漂移（公平隨機漫步）下，「價格回到某個固定點」所需的時間在數學上沒有上限——這是隨機漫步的古典性質，非策略設計缺陷。若解套後採取「停利、不再滾動」的紀律（見下頁），可大幅縮短平均曝險時間、顯著改善整體結果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49808" y="549554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財務部審查建議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5852160"/>
            <a:ext cx="10692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本策略勝率高、機制設計上保證已平倉部位不低於本金；審查重點應放在「如何管理存續期間」（部位規模、停利紀律、FVTPL季度評價揭露），而非單看混合平均數字。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建議做法：解套後停利了結，不做永續滾動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同一套模擬，加上一條紀律——解套轉回USDT後即停止重新掛單、資金轉為現金——結果明顯改善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規則1：最高收益(ATM)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規則2：不被轉換(OTM緩衝)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中位數年化報酬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+3.87%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+1.89%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全年虧損機率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20.4%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18.9%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對照：永續滾動之虧損機率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74.5%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85.1%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4005072" cy="16002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709928"/>
            <a:ext cx="3730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虧損機率降低逾50個百分點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816352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單一紀律：停利後不重新進場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694944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9808" y="3575304"/>
            <a:ext cx="6547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為什麼有效？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931920"/>
            <a:ext cx="65471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滾動策略之所以表現不佳，並非機制本身有缺陷，而是「一解套就立刻用新的市價重新掛單」使資金反覆暴露於套牢風險。只要在解套當下停手、把資金轉回現金，就能保留已實現之獲利、避免立即再次陷入下一輪不確定的存續期間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3429000"/>
            <a:ext cx="4005072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836408" y="3575304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836408" y="3931920"/>
            <a:ext cx="36027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停利後之閒置資金不再產生權利金收入，且平均每年仍會遇到約 1 至 2 成之路徑於年底前尚未解套。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49808" y="540410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落地建議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49808" y="5760720"/>
            <a:ext cx="10692079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本策略之標準作業程序（SOP）明訂為「解套後停利、待下一次進場訊號或固定週期再重新申購」，而非交易所預設之「自動再訂閱」；此為單一、低成本即可落實之治理措施，且已由模擬證實可大幅改善整體風險報酬輪廓。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穩健性檢驗：換一個天期，結論會不同嗎？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天期非固定7天——依選擇權定價原理（權利金∝√天期），重新校準1～30天全區間並重跑模擬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2011680"/>
                <a:gridCol w="20116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天期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每年週期數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校準ATM年化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混合平均年化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已平倉占比／平均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 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365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330.7%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-19.0%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2.0% ／ +42.3%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 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190.9%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-18.2%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3.7% ／ +41.6%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7 天（原基準）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125.0%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-17.0%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5.5% ／ +38.3%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14 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88.4%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-16.3%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7.9% ／ +35.5%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30 天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60.4%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-14.6%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11.9% ／ +32.8%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47731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-14.6% ~ -19.0%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696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全天期範圍內，混合平均年化僅小幅波動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46634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98848" y="4809744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反直覺發現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498848" y="5166360"/>
            <a:ext cx="31638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天期越長，已平倉占比反而越高（30天11.9% vs 1天2.0%）——長天期每次檢查點有更充裕空間讓價格越過鎖定價，短天期雖單期年化最亮眼，但檢查過於密集反而更快再度套牢。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55280" y="4663440"/>
            <a:ext cx="3685032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56448" y="4809744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5166360"/>
            <a:ext cx="32826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換任何天期，「已平倉必為正、但完成比例偏低」的核心結論都不變——不是7天這個假設剛好湊出負值。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Binance 雙幣投資（Dual Investment）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OKX 之產品架構對比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32511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比較維度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Binance 雙幣投資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OKX 雙幣贏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產品期限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 天至數週不等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依市場條件動態設定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標的資產豐富度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BTC、ETH 及多組主流交易對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BTC、ETH、USDT，六種投資策略組合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交割時間點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依產品條款固定時點交割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每日 UTC+8 16:30 結算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特色功能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Auto-Compound：Basic／Advanced方案，依是否觸及目標價自動再訂閱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提前贖回（Early Redemption）：可主動平倉，惟通常犧牲部分權利金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454456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4%–138%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42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官方揭露存款貨幣年化區間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97680" y="44348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98848" y="4581144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歷史高點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498848" y="4937760"/>
            <a:ext cx="325526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部分特定高波動性商品之歷史公告年化甚至達 175%。行使價越接近現貨、天期越短，年化通常越高，但轉換機率亦同步提高，與 OKX 定價邏輯一致。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138160" y="4434840"/>
            <a:ext cx="3502152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339328" y="4581144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財務運用場景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339328" y="4937760"/>
            <a:ext cx="30998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高賣獲利了結：對已持有 BTC/ETH 部位設定目標賣出價｜低買策略性積累：搭配 Auto-Compound 系統化執行，惟須留意連續期間累積曝險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財務部專題：會計處理與外部審計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IFRS 認列基礎與 Big 4 查核複雜度對比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3383280"/>
                <a:gridCol w="25877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比較維度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Bitfinex USD 放貸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OKX/Binance 活期理財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OKX/Binance 雙幣理財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建議會計科目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現金及約當現金／短期金融資產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虛擬資產存貨或無形資產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嵌入式衍生工具（FVTPL）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計價貨幣風險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有（USDT 脫錨風險）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有（計價幣別＋標的雙重波動）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期末公允價值評價模型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不需複雜評價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需依市價評價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需選擇權定價模型（Black-Scholes）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減損測試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不適用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適用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適用（拆解主合約與衍生工具）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外部審計函證難度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中等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中等偏難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高難度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合規成本（相對排序）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低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</a:rPr>
                        <a:t>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五大策略綜合決策矩陣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Comprehensive Comparison Matrix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2048256"/>
                <a:gridCol w="2048256"/>
                <a:gridCol w="2048256"/>
                <a:gridCol w="2048256"/>
                <a:gridCol w="2048256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Bitfinex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OKX活期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Binance活期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OKX雙幣贏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Binance雙幣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收益本質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利息收入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利息（稀釋）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利息（稀釋）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選擇權權利金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選擇權權利金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百萬資金 APY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4.25–17.0%+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1.70–4.25%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約1.50%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名目4–138%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官方4–138%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本金保障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不受市場方向影響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承擔平台信用曝險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承擔平台信用曝險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可能強制轉換資產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可能強制轉換資產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Delta 風險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無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低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低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有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流動性召回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天期鎖定(2–120天)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即時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即時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鎖定至結算日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鎖定至結算日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會計複雜度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低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財務部資產配置模擬模型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三種全配置權重方案｜本金 $1,000,000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63040"/>
          <a:ext cx="546811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77240"/>
                <a:gridCol w="777240"/>
                <a:gridCol w="868680"/>
                <a:gridCol w="731520"/>
                <a:gridCol w="896112"/>
                <a:gridCol w="960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Bitfinex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OKX活期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Binance活期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OKX雙幣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Binance雙幣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</a:rPr>
                        <a:t>年度收益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A 穩健防禦型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70%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5%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5%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$121,500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B 平衡收益型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55%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15%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$173,600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C 戰術成長型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40%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20%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20%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334155"/>
                          </a:solidFill>
                        </a:rPr>
                        <a:t>$225,600</a:t>
                      </a:r>
                      <a:endParaRPr lang="en-US" sz="88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172200" y="3520440"/>
            <a:ext cx="5468112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373368" y="3666744"/>
            <a:ext cx="5065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無方向性曝險部位佔比：A 75%／B 55%／C 40%｜T+0 流動性緩衝均為 20%｜雙幣理財曝險合計：A 10%／B 25%／C 40%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48640" y="466344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" y="4809744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方法論揭露（重要）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5166360"/>
            <a:ext cx="1069207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雙幣理財之 45% 年化係採「未觸及行使價（價外到期）」情境計算，未反映觸價本金轉換損失。若納入機率加權情境分析，實際綜合年化將視市場波動與觸價機率顯著偏離本表數字；惟第 11–12 頁之全年模擬顯示，只要搭配停利紀律（解套後不永續滾動），虧損機率可由七至八成大幅降至二成以下，詳見報告第 6、7 章完整情境試算。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內控架構與推進時程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533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最小授權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僅開放出借／理財申購，物理封閉提幣與轉帳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391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 白名單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039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固定內部 VPC 出口 IP，企業 KMS 加密金鑰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7249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OTM 緩衝門檻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27249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雙幣理財行使價距離建議 ≥ 8%，納入交易員 SOP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411480" cy="41148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107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Kill-Switch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34107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異常事件自動預警，觸發後停止新單並緊急處置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417320" cy="274320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93992" y="150876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93992" y="187452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會簽授權與 API 設定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93992" y="35661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2–4 週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48472" y="1371600"/>
            <a:ext cx="1417320" cy="274320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67344" y="150876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467344" y="187452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小規模沙盒試點（五項工具）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467344" y="35661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2–3 個月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765792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21824" y="1371600"/>
            <a:ext cx="1417320" cy="274320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40696" y="150876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0140696" y="1874520"/>
            <a:ext cx="11795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常態化配置與自動化部署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140696" y="35661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結束後 1 個月內啟動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請財務部、風控委員會與法遵室完成本報告會簽，核定 Phase 1 啟動時程與各平台曝險上限、雙幣理財 OTM 緩衝門檻，以及模型 A／B／C 或客製化配置權重。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TSGEX 資產管理部｜內部機密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905695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2026-09-07T02:51:12Z</dcterms:created>
  <dcterms:modified xsi:type="dcterms:W3CDTF">2026-09-07T02:51:12Z</dcterms:modified>
</cp:coreProperties>
</file>