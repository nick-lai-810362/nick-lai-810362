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3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F172A"/>
                </a:solidFill>
                <a:latin typeface="Microsoft JhengHei"/>
              </a:defRPr>
            </a:pPr>
            <a:r>
              <a:rPr sz="1300" b="0" i="0" u="none" strike="noStrike">
                <a:solidFill>
                  <a:srgbClr val="0F172A"/>
                </a:solidFill>
                <a:latin typeface="Microsoft JhengHei"/>
              </a:rPr>
              <a:t>百萬美元淨年化收益率（%）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淨年化收益率 Net APY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17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保守情境
(5.0% gross)</c:v>
                  </c:pt>
                  <c:pt idx="1">
                    <c:v>基準情境
(12.1% gross)</c:v>
                  </c:pt>
                  <c:pt idx="2">
                    <c:v>樂觀情境
(20%+ gross)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4.25</c:v>
                </c:pt>
                <c:pt idx="1">
                  <c:v>10.29</c:v>
                </c:pt>
                <c:pt idx="2">
                  <c:v>17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0F17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Microsoft Jheng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</c:scaling>
        <c:delete val="0"/>
        <c:axPos val="l"/>
        <c:majorGridlines>
          <c:spPr>
            <a:ln w="9525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Microsoft Jheng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F172A"/>
                </a:solidFill>
                <a:latin typeface="Microsoft JhengHei"/>
              </a:defRPr>
            </a:pPr>
            <a:r>
              <a:rPr sz="1300" b="0" i="0" u="none" strike="noStrike">
                <a:solidFill>
                  <a:srgbClr val="0F172A"/>
                </a:solidFill>
                <a:latin typeface="Microsoft JhengHei"/>
              </a:rPr>
              <a:t>年化利率對比（%）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行銷頭牌利率（小額適用）</c:v>
                </c:pt>
              </c:strCache>
            </c:strRef>
          </c:tx>
          <c:spPr>
            <a:solidFill>
              <a:srgbClr val="CBD5E1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0F17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OKX 活期</c:v>
                  </c:pt>
                  <c:pt idx="1">
                    <c:v>Binance 活期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</c:v>
                </c:pt>
                <c:pt idx="1">
                  <c:v>4.5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百萬美元 Effective APY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0F17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OKX 活期</c:v>
                  </c:pt>
                  <c:pt idx="1">
                    <c:v>Binance 活期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2.98</c:v>
                </c:pt>
                <c:pt idx="1">
                  <c:v>1.5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050" u="none">
                  <a:solidFill>
                    <a:srgbClr val="0F17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4155"/>
                </a:solidFill>
                <a:latin typeface="Microsoft Jheng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Microsoft Jheng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34155"/>
              </a:solidFill>
              <a:latin typeface="Microsoft JhengHei"/>
              <a:cs typeface="Microsoft Jheng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F172A"/>
                </a:solidFill>
                <a:latin typeface="Microsoft JhengHei"/>
              </a:defRPr>
            </a:pPr>
            <a:r>
              <a:rPr sz="1200" b="0" i="0" u="none" strike="noStrike">
                <a:solidFill>
                  <a:srgbClr val="0F172A"/>
                </a:solidFill>
                <a:latin typeface="Microsoft JhengHei"/>
              </a:rPr>
              <a:t>綜合加權年化 Blended APY（%）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Blended APY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17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模型A
穩健防禦型</c:v>
                  </c:pt>
                  <c:pt idx="1">
                    <c:v>模型B
平衡收益型</c:v>
                  </c:pt>
                  <c:pt idx="2">
                    <c:v>模型C
戰術成長型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12.15</c:v>
                </c:pt>
                <c:pt idx="1">
                  <c:v>17.36</c:v>
                </c:pt>
                <c:pt idx="2">
                  <c:v>22.56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0F17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Microsoft Jheng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"/>
        </c:scaling>
        <c:delete val="0"/>
        <c:axPos val="l"/>
        <c:majorGridlines>
          <c:spPr>
            <a:ln w="9525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Microsoft Jheng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828800"/>
            <a:ext cx="4572000" cy="457200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4937760"/>
            <a:ext cx="3657600" cy="3657600"/>
          </a:xfrm>
          <a:prstGeom prst="ellipse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200" kern="0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9659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自有流動資金收益優化可行性評估報告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8803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五大主流工具數據穿透、風險剖析與財務部資產配置決策矩陣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3703320"/>
            <a:ext cx="2926080" cy="0"/>
          </a:xfrm>
          <a:prstGeom prst="line">
            <a:avLst/>
          </a:prstGeom>
          <a:noFill/>
          <a:ln w="25400">
            <a:solidFill>
              <a:srgbClr val="2563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3977640"/>
            <a:ext cx="3003804" cy="384048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3977640"/>
            <a:ext cx="30038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Bitfinex USD Margin Funding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991356" y="3977640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991356" y="39776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OKX 活期理財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161788" y="3977640"/>
            <a:ext cx="1426464" cy="384048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61788" y="3977640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Binance 活期理財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752844" y="3977640"/>
            <a:ext cx="900684" cy="384048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752844" y="3977640"/>
            <a:ext cx="9006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OKX 雙幣贏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818120" y="3977640"/>
            <a:ext cx="1426464" cy="384048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18120" y="3977640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Binance 雙幣投資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58064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提案呈送：財務部（Treasury &amp; Finance）｜風險管理委員會｜投資委員會（IC）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6126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內部機密（Internal Confidential）｜2026年9月｜文件編號 TSGEX-AM-2026-0904-R2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執行摘要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五大標的之收益光譜定位——本報告以數據呈現機制與風險，配置決策保留予財務部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121408" cy="3246120"/>
          </a:xfrm>
          <a:prstGeom prst="roundRect">
            <a:avLst>
              <a:gd name="adj" fmla="val 431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69164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286000"/>
            <a:ext cx="1792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Bitfinex USD</a:t>
            </a:r>
            <a:endParaRPr lang="en-US" sz="13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Margin Funding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3017520"/>
            <a:ext cx="1792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出借利息｜P2P超額抵押</a:t>
            </a:r>
            <a:endParaRPr lang="en-US" sz="10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零方向性曝險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13232" y="3840480"/>
            <a:ext cx="1792224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931920"/>
            <a:ext cx="17922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機構百萬資金 APY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142232"/>
            <a:ext cx="1792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4.25%–17.0%+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816352" y="1508760"/>
            <a:ext cx="2121408" cy="3246120"/>
          </a:xfrm>
          <a:prstGeom prst="roundRect">
            <a:avLst>
              <a:gd name="adj" fmla="val 431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80944" y="169164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980944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980944" y="2286000"/>
            <a:ext cx="1792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OKX USDT</a:t>
            </a:r>
            <a:endParaRPr lang="en-US" sz="13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活期理財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2980944" y="3017520"/>
            <a:ext cx="1792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資金池利差</a:t>
            </a:r>
            <a:endParaRPr lang="en-US" sz="10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T+0 流動性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980944" y="3840480"/>
            <a:ext cx="1792224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980944" y="3931920"/>
            <a:ext cx="17922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機構百萬資金 APY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2980944" y="4142232"/>
            <a:ext cx="1792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1.7%–4.3%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084064" y="1508760"/>
            <a:ext cx="2121408" cy="3246120"/>
          </a:xfrm>
          <a:prstGeom prst="roundRect">
            <a:avLst>
              <a:gd name="adj" fmla="val 431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248656" y="169164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248656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248656" y="2286000"/>
            <a:ext cx="1792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Binance USDT</a:t>
            </a:r>
            <a:endParaRPr lang="en-US" sz="13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活期理財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5248656" y="3017520"/>
            <a:ext cx="1792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資金池利差</a:t>
            </a:r>
            <a:endParaRPr lang="en-US" sz="10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T+0 流動性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248656" y="3840480"/>
            <a:ext cx="1792224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248656" y="3931920"/>
            <a:ext cx="17922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機構百萬資金 APY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5248656" y="4142232"/>
            <a:ext cx="1792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1.5%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7351776" y="1508760"/>
            <a:ext cx="2121408" cy="3246120"/>
          </a:xfrm>
          <a:prstGeom prst="roundRect">
            <a:avLst>
              <a:gd name="adj" fmla="val 431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516368" y="169164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516368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516368" y="2286000"/>
            <a:ext cx="1792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OKX</a:t>
            </a:r>
            <a:endParaRPr lang="en-US" sz="13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雙幣贏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7516368" y="3017520"/>
            <a:ext cx="1792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選擇權權利金</a:t>
            </a:r>
            <a:endParaRPr lang="en-US" sz="10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非保本結構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7516368" y="3840480"/>
            <a:ext cx="1792224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516368" y="3931920"/>
            <a:ext cx="17922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機構百萬資金 APY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7516368" y="4142232"/>
            <a:ext cx="1792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名目 4%–138%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9619488" y="1508760"/>
            <a:ext cx="2121408" cy="3246120"/>
          </a:xfrm>
          <a:prstGeom prst="roundRect">
            <a:avLst>
              <a:gd name="adj" fmla="val 431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784080" y="169164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78408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9784080" y="2286000"/>
            <a:ext cx="1792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Binance</a:t>
            </a:r>
            <a:endParaRPr lang="en-US" sz="13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雙幣投資</a:t>
            </a:r>
            <a:endParaRPr lang="en-US" sz="1350" dirty="0"/>
          </a:p>
        </p:txBody>
      </p:sp>
      <p:sp>
        <p:nvSpPr>
          <p:cNvPr id="40" name="Text 38"/>
          <p:cNvSpPr txBox="1"/>
          <p:nvPr/>
        </p:nvSpPr>
        <p:spPr>
          <a:xfrm>
            <a:off x="9784080" y="3017520"/>
            <a:ext cx="1792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選擇權權利金</a:t>
            </a:r>
            <a:endParaRPr lang="en-US" sz="10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非保本結構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9784080" y="3840480"/>
            <a:ext cx="1792224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784080" y="3931920"/>
            <a:ext cx="17922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機構百萬資金 APY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9784080" y="4142232"/>
            <a:ext cx="1792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官方 4%–138%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548640" y="49834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核心財務基準：SOFR / 3M T-Bill ≈ 4.5%＋150–200 bps 流動性溢價（政策基準）；即時市場 SOFR（2026-09-01）為 3.66%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548640" y="5394960"/>
            <a:ext cx="11094415" cy="9144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46" name="Text 44"/>
          <p:cNvSpPr txBox="1"/>
          <p:nvPr/>
        </p:nvSpPr>
        <p:spPr>
          <a:xfrm>
            <a:off x="749808" y="5541264"/>
            <a:ext cx="106920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本報告定位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749808" y="5897880"/>
            <a:ext cx="106920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項工具視為功能各異之「資產配置積木」，涵蓋純固定收益、資金池活期收益、賣方結構型衍生品三種收益本質；報告以呈現真實金融工程機制、數據試算與風險因子為唯一目的，最終配置決策保留予財務部與投資委員會依風險偏好判斷。</a:t>
            </a:r>
            <a:endParaRPr lang="en-US" sz="1150" dirty="0"/>
          </a:p>
        </p:txBody>
      </p:sp>
      <p:sp>
        <p:nvSpPr>
          <p:cNvPr id="48" name="Text 4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49" name="Text 47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 / 16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財務基準與研究揭露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即時聯網檢索校驗（檢索時間：2026 年 9 月）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383280" cy="182880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709928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4.5%+150–200bps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04495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公司內部政策性 Hurdle Rate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160520" y="1600200"/>
            <a:ext cx="3383280" cy="18288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297680" y="1709928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3.66%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51960" y="304495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即時 SOFR（2026-09-01，NY Fed）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772400" y="1600200"/>
            <a:ext cx="3867912" cy="182880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909560" y="1709928"/>
            <a:ext cx="359359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本報告採用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3044952"/>
            <a:ext cx="3685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計算超額利差（Alpha）時，統一以即時市場 SOFR 3.66% 為客觀基準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749040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49808" y="3895344"/>
            <a:ext cx="5038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研究方法揭露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49808" y="4251960"/>
            <a:ext cx="5038344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本報告所引用之各平台利率、費用結構、儲備金證明與雙幣理財機制，均經即時聯網檢索取得（Bitfinex Help Center / EarnUSD、OKX Help Center、Binance 官方公告、NY Fed FRED 資料庫等），完整來源列示於報告末章「資料來源與檢索時間」。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72200" y="3749040"/>
            <a:ext cx="5468112" cy="2286000"/>
          </a:xfrm>
          <a:prstGeom prst="roundRect">
            <a:avLst>
              <a:gd name="adj" fmla="val 32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373368" y="3895344"/>
            <a:ext cx="50657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客觀中立原則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373368" y="4251960"/>
            <a:ext cx="5065776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全篇報告聚焦「100% 公開、透明、真實」之底層邏輯、真實收益率計算與具體風險因子，不對任一標的下達主觀否定性結論；五項工具均視為可依風險偏好調整權重之配置積木。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 / 16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Bitfinex USD Margin Funding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P2P 保證金撮合機制與美元法幣屬性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457200" cy="45720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536192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P2P 訂單簿撮合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160520" y="1536192"/>
            <a:ext cx="7452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出借人掛出金額／利率／天期，依價格與時間優先原則自動撮合，資訊透明度高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212848"/>
            <a:ext cx="457200" cy="45720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212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19456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借款人超額抵押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160520" y="2194560"/>
            <a:ext cx="7452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原始保證金率約為部位名目價值之 15%–33%（最高槓桿約 3–6.6 倍）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2871216"/>
            <a:ext cx="457200" cy="45720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28712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285292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維持保證金與清算引擎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160520" y="2852928"/>
            <a:ext cx="7452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保證金比率跌破約 15% 時自動觸發強制減倉，優先以借款人擔保品償付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529584"/>
            <a:ext cx="457200" cy="45720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3529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3511296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出借人優先受償權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160520" y="3511296"/>
            <a:ext cx="7452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求償順位優先於借款人自身權益；強平引擎完成減倉前，出借人本金不受影響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325112"/>
            <a:ext cx="5440680" cy="1508760"/>
          </a:xfrm>
          <a:prstGeom prst="roundRect">
            <a:avLst>
              <a:gd name="adj" fmla="val 4848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49808" y="4471416"/>
            <a:ext cx="5038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為何選擇 USD 法幣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49808" y="4828032"/>
            <a:ext cx="503834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零幣價波動（Delta-Neutral），本金無方向性曝險；無穩定幣脫錨疑慮；可直接列示為現金及約當現金，符合 GAAP/IFRS 認列規範，會計處理最單純。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172200" y="4325112"/>
            <a:ext cx="5468112" cy="1508760"/>
          </a:xfrm>
          <a:prstGeom prst="roundRect">
            <a:avLst>
              <a:gd name="adj" fmla="val 4848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373368" y="4471416"/>
            <a:ext cx="50657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利差階梯掛單授權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373368" y="4828032"/>
            <a:ext cx="506577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常態（APR&lt;15%）：2–7 天短天期滾存｜高息溢價期（APR≥15%）：開放至 15–30 天鎖定超額利潤｜極端波動期（APR≥30%+）：專案彈性授權至 60–120 天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 / 16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Bitfinex：即時市場數據與百萬美元試算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檢索日：2026 年 9 月｜扣除平台 15% 服務費後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EFF6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618488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12.1%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96312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近期 USD 出借日均 APR（扣費前）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291840" y="150876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F8FAF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29000" y="1618488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3%–20%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2496312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FRR 歷史區間（每小時更新）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035040" y="150876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F8FAF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172200" y="1618488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15% / 18%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6126480" y="2496312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標準／隱藏掛單服務費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778240" y="1508760"/>
            <a:ext cx="2862072" cy="1371600"/>
          </a:xfrm>
          <a:prstGeom prst="roundRect">
            <a:avLst>
              <a:gd name="adj" fmla="val 5333"/>
            </a:avLst>
          </a:prstGeom>
          <a:solidFill>
            <a:srgbClr val="EFF6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915400" y="1618488"/>
            <a:ext cx="25877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6A3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+663 bps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869680" y="2496312"/>
            <a:ext cx="2679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基準情境相較即時 SOFR 超額利差</a:t>
            </a:r>
            <a:endParaRPr lang="en-US" sz="105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548640" y="3154680"/>
          <a:ext cx="60350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0" y="3246120"/>
          <a:ext cx="478231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371600"/>
                <a:gridCol w="1216152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情境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淨年化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年度淨利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月度淨利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保守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4.25%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$42,500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$3,541.7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基準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10.29%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$102,850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$8,570.8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樂觀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17.0%+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$170,000+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$14,166.7+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6858000" y="5349240"/>
            <a:ext cx="47823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本金 $1,000,000｜相較即時 SOFR（3.66%）：保守 +59bps／基準 +663bps／樂觀 +1,334bps+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20" name="Text 16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/ 16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OKX USDT 活期理財（Simple Earn 靈活）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階梯利率結構穿透：百萬美元規模真實有效年化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655064"/>
            <a:ext cx="5038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運作架構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011680"/>
            <a:ext cx="503834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用戶 USDT 併入 OKX 整體借貸資金池，每小時依借貸需求排序出借申請，構成表內無擔保信用曝險。儲備金證明：第 45 期月度 PoR（2026年8月），鏈上錢包合計約 232.3 億美元，主要資產覆蓋率維持 100% 以上。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172200" y="1508760"/>
            <a:ext cx="5468112" cy="182880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373368" y="1655064"/>
            <a:ext cx="50657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階梯利率與費用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373368" y="2011680"/>
            <a:ext cx="506577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 500 USDT 享 Bonus APR 最高 10.00%；超過額度部分依市場浮動 APR 計息。平台費用 15%：小時報酬 = 出借金額 × APR ÷ 365 ÷ 24 × 85%。</a:t>
            </a:r>
            <a:endParaRPr lang="en-US" sz="11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66160"/>
          <a:ext cx="74066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280160"/>
                <a:gridCol w="1097280"/>
                <a:gridCol w="1371600"/>
                <a:gridCol w="731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級距（USDT）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金額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名目 APR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淨 APR（扣15%）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利息貢獻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0 – 500（Bonus）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500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10.00%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8.50%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$42.50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500 – 1,000,000（市場浮動，中位 3.5%）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999,500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3.50%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2.975%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$29,735.13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合計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1,000,000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$29,777.63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8183880" y="3566160"/>
            <a:ext cx="3456432" cy="1371600"/>
          </a:xfrm>
          <a:prstGeom prst="roundRect">
            <a:avLst>
              <a:gd name="adj" fmla="val 5333"/>
            </a:avLst>
          </a:prstGeom>
          <a:solidFill>
            <a:srgbClr val="EFF6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321040" y="3675888"/>
            <a:ext cx="3182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2.98%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4553712"/>
            <a:ext cx="3273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加權平均 Effective APY（中位情境）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183880" y="5074920"/>
            <a:ext cx="3456432" cy="1051560"/>
          </a:xfrm>
          <a:prstGeom prst="roundRect">
            <a:avLst>
              <a:gd name="adj" fmla="val 6957"/>
            </a:avLst>
          </a:prstGeom>
          <a:solidFill>
            <a:srgbClr val="F8FAFC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321040" y="5184648"/>
            <a:ext cx="3182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1.70%–4.25%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5742432"/>
            <a:ext cx="3273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浮動區間（市場APR 2%–5%）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/ 16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Binance USDT 活期理財（Simple Earn 活期）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階梯利率結構穿透：百萬美元規模真實有效年化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655064"/>
            <a:ext cx="5038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運作架構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011680"/>
            <a:ext cx="503834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用戶 USDT 併入 Binance 整體資金池，依 Real-Time APR（每分鐘更新）計息。SAFU 保護基金：2026年2月完成組成調整，原約10億美元穩定幣儲備轉換為約15,000枚BTC，承諾跌破8億美元將補充；整體 PoR 截至2025年底約1,628億美元。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172200" y="1508760"/>
            <a:ext cx="5468112" cy="182880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373368" y="1655064"/>
            <a:ext cx="50657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階梯利率（官方實例）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373368" y="2011680"/>
            <a:ext cx="506577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USDT Flexible：Real-Time APR 約 1.5%；前 200 USDT 另享 Bonus Tiered APR 3.0%（合計約 4.5%）。另有促銷公告「最高可達 6% APR」，惟同樣僅適用於極小額促銷級距。</a:t>
            </a:r>
            <a:endParaRPr lang="en-US" sz="11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66160"/>
          <a:ext cx="74066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463040"/>
                <a:gridCol w="1280160"/>
                <a:gridCol w="13716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級距（USDT）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金額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適用利率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利息貢獻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0 – 200（Real-Time + Bonus）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200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4.50%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$9.00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200 – 1,000,000（Real-Time APR）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999,800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1.50%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$14,997.00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合計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1,000,000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$15,006.00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8183880" y="3566160"/>
            <a:ext cx="3456432" cy="1371600"/>
          </a:xfrm>
          <a:prstGeom prst="roundRect">
            <a:avLst>
              <a:gd name="adj" fmla="val 5333"/>
            </a:avLst>
          </a:prstGeom>
          <a:solidFill>
            <a:srgbClr val="EFF6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321040" y="3675888"/>
            <a:ext cx="3182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1.50%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4553712"/>
            <a:ext cx="3273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加權平均 Effective APY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183880" y="5074920"/>
            <a:ext cx="3456432" cy="1051560"/>
          </a:xfrm>
          <a:prstGeom prst="roundRect">
            <a:avLst>
              <a:gd name="adj" fmla="val 6957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385048" y="5221224"/>
            <a:ext cx="3054096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Bonus 級距僅佔百萬資金之 0.02%，機構規模有效年化幾乎完全收斂至 Real-Time APR 基礎利率。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 / 16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活期理財：頭牌利率 vs. 機構規模真實年化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百萬美元資金之「階梯利率稀釋效應」量化對比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08760"/>
          <a:ext cx="658368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406640" y="1508760"/>
            <a:ext cx="4233672" cy="1417320"/>
          </a:xfrm>
          <a:prstGeom prst="roundRect">
            <a:avLst>
              <a:gd name="adj" fmla="val 5161"/>
            </a:avLst>
          </a:prstGeom>
          <a:solidFill>
            <a:srgbClr val="EFF6F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543800" y="1618488"/>
            <a:ext cx="39593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$84,878 / $44,994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498080" y="2542032"/>
            <a:ext cx="4050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OKX / Binance 年度資本拖累（Capital Drag）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406640" y="3063240"/>
            <a:ext cx="4233672" cy="2377440"/>
          </a:xfrm>
          <a:prstGeom prst="roundRect">
            <a:avLst>
              <a:gd name="adj" fmla="val 3077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7607808" y="3209544"/>
            <a:ext cx="3831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財務部審查重點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607808" y="3566160"/>
            <a:ext cx="383133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行銷頁面高年化僅具「獲客展示」意義，對百萬美元等級機構資金不具實質參考價值。若整筆 $1,000,000 均比照行銷頭牌利率估算，OKX 與 Binance 之實際年度利息分別短少約 $84,878 與 $44,994——此為配置活期理財時應納入之機會成本。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 / 16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OKX 雙幣贏（Dual Investment）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選擇權權利金本質與百萬資金情境損益試算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40680" cy="1554480"/>
          </a:xfrm>
          <a:prstGeom prst="roundRect">
            <a:avLst>
              <a:gd name="adj" fmla="val 4706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609344"/>
            <a:ext cx="5038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金融工程本質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1965960"/>
            <a:ext cx="50383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低買（Buy Low）＝出售看跌期權（Short Put）；高賣（Sell High）＝出售看漲期權（Short Call）。年化利率＝固定報酬率×365÷Term，本質為選擇權權利金之年化換算，而非傳統利息。「距離現貨越近，年化越高，但轉換機率亦提高」（OKX官方說明）。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172200" y="1463040"/>
            <a:ext cx="5468112" cy="1554480"/>
          </a:xfrm>
          <a:prstGeom prst="roundRect">
            <a:avLst>
              <a:gd name="adj" fmla="val 4706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373368" y="1609344"/>
            <a:ext cx="50657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示意範例設定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373368" y="1965960"/>
            <a:ext cx="506577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BTC/USDT 現貨 $60,000｜行使價 $57,000（價外5%）｜天期 7天｜示意年化 45%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權利金收入 ≈ $8,630.14（本金 $1,000,000）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4612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560320"/>
                <a:gridCol w="2651760"/>
                <a:gridCol w="2039112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情境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結算條件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期末總值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單週報酬率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情境1：價外到期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結算價 ≥ $57,000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$1,008,630.14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+0.86%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情境2：小幅價內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結算價 $55,000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$973,542.44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-2.65%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情境3：深度價內（暴跌25%）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結算價 $45,000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$798,104.74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-20.19%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48640" y="525780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749808" y="5404104"/>
            <a:ext cx="106920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財務運用場景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49808" y="5760720"/>
            <a:ext cx="10692079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設定目標價逢低分批建倉：於等待建倉價位期間同時賺取權利金｜② 震盪市掛深度價外（OTM 10%+）收益增強：降低轉換機率，以較低年化換取較高本金安全邊際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 / 16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進階策略：轉換後之滾動掛單（"Wheel" 策略）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本金轉為 BTC 後不認賠平倉，改以同一行使價反向掛「高賣」等待價格回升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40680" cy="1920240"/>
          </a:xfrm>
          <a:prstGeom prst="roundRect">
            <a:avLst>
              <a:gd name="adj" fmla="val 381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609344"/>
            <a:ext cx="5038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怎麼做？（Covered-Call Wheel 概念）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1965960"/>
            <a:ext cx="503834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低買轉換為 BTC 後，② 立即以持有之 BTC、相同行使價（$55,900）掛出「高賣」收取權利金；③ 若到期未漲破，繼續持有 BTC 並重複掛單；④ 一旦漲破，BTC 依原行使價換回 USDT，本金名目值完整取回，且期間累積之權利金全數保留。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463040"/>
          <a:ext cx="5468112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947672"/>
                <a:gridCol w="914400"/>
                <a:gridCol w="1005840"/>
                <a:gridCol w="146304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週期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操作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示意年化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本期權利金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結算結果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第1週 低買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$1,000,000→轉換為17.8891 BTC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40%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$7,671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跌破，轉換為BTC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第2週 高賣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同一行使價 $55,900 滾動掛單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32%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$5,823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未漲破，續留BTC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第3週 高賣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同一行使價 $55,900 滾動掛單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38%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$7,042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漲破，換回USDT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3611880"/>
            <a:ext cx="3566160" cy="1417320"/>
          </a:xfrm>
          <a:prstGeom prst="roundRect">
            <a:avLst>
              <a:gd name="adj" fmla="val 5161"/>
            </a:avLst>
          </a:prstGeom>
          <a:solidFill>
            <a:srgbClr val="EFF6F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85800" y="3721608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A3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+2.05%（3週）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464515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順利路徑：本金全數取回＋累積權利金 $20,535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297680" y="3611880"/>
            <a:ext cx="3566160" cy="1417320"/>
          </a:xfrm>
          <a:prstGeom prst="roundRect">
            <a:avLst>
              <a:gd name="adj" fmla="val 5161"/>
            </a:avLst>
          </a:prstGeom>
          <a:solidFill>
            <a:srgbClr val="F8FAFC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434840" y="3721608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-28.4%（未實現）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4389120" y="464515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對照情境：10週價格未回升，帳面浮虧 $284,436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001000" y="3611880"/>
            <a:ext cx="3639312" cy="1417320"/>
          </a:xfrm>
          <a:prstGeom prst="roundRect">
            <a:avLst>
              <a:gd name="adj" fmla="val 516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202168" y="3758184"/>
            <a:ext cx="32369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關鍵前提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202168" y="4114800"/>
            <a:ext cx="3236976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「不會虧錢」僅在最終價格確實回升至原行使價、且過程中未改用更低行使價時成立。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48640" y="5212080"/>
            <a:ext cx="11094415" cy="1097280"/>
          </a:xfrm>
          <a:prstGeom prst="roundRect">
            <a:avLst>
              <a:gd name="adj" fmla="val 6667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49808" y="5358384"/>
            <a:ext cx="106920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財務部應理解之三項限制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49808" y="5715000"/>
            <a:ext cx="106920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權利金隨套牢加深而遞減（越價外，權利金越低，非維持初始水準）｜② 價格回升時間無保證，資金於等待期間無法投入其他生息工具（機會成本）｜③ FVTPL會計原則下，未回升期間之BTC部位仍須逐期認列未實現跌價損失，非「零風險」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全年模擬：為何「每期都正報酬」全年卻可能是負的？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蒙地卡羅模擬（20,000條路徑）｜現貨$77,000｜年化波動55%｜權利金已校準至125%(ATM)，非武斷假設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5895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194560"/>
                <a:gridCol w="219456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規則1：最高收益(ATM)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規則2：不被轉換(OTM緩衝)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【已平倉】占比 ／ 平均年化 ／ 虧損機率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5.5% ／ +38.5% ／ 0%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8.1% ／ +16.0% ／ 0%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【未平倉，年末快照】占比 ／ 平均年化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94.5% ／ -20.5%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92.0% ／ -28.3%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混合平均年化（原始揭露方式）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-17.2%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-24.7%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600200"/>
            <a:ext cx="3364992" cy="1463040"/>
          </a:xfrm>
          <a:prstGeom prst="roundRect">
            <a:avLst>
              <a:gd name="adj" fmla="val 5000"/>
            </a:avLst>
          </a:prstGeom>
          <a:solidFill>
            <a:srgbClr val="EFF6F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412480" y="1709928"/>
            <a:ext cx="30906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A3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已平倉路徑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16A3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100%正報酬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366760" y="2679192"/>
            <a:ext cx="3182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驗證：只要完整走完一輪，必然是正報酬——與直覺一致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8275320" y="3246120"/>
            <a:ext cx="3364992" cy="1965960"/>
          </a:xfrm>
          <a:prstGeom prst="roundRect">
            <a:avLst>
              <a:gd name="adj" fmla="val 3721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476488" y="3392424"/>
            <a:ext cx="2962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但只有5.5%~8.1%能在一年內走完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476488" y="3749040"/>
            <a:ext cx="296265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其餘九成以上路徑年末仍持有BTC，「負報酬」幾乎全來自這批未平倉部位在年末當天的市價快照，而非策略已實現虧損。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48640" y="3794760"/>
            <a:ext cx="7589520" cy="1417320"/>
          </a:xfrm>
          <a:prstGeom prst="roundRect">
            <a:avLst>
              <a:gd name="adj" fmla="val 516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749808" y="3941064"/>
            <a:ext cx="7187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為什麼「未平倉」的比例這麼高？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49808" y="4297680"/>
            <a:ext cx="718718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漂移（公平隨機漫步）下，「價格回到某個固定點」所需的期望時間在數學上是無窮大——這不是模型瑕疵，是隨機漫步的古典性質。且兩規則都要求「一解套就立刻重新掛單」，新倉位又有相當機率馬上再度套牢，因此「卡住」才是這套規則長期下的常態，而非過渡。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48640" y="5349240"/>
            <a:ext cx="11094415" cy="91440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749808" y="5495544"/>
            <a:ext cx="106920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財務部審查建議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49808" y="5852160"/>
            <a:ext cx="106920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應只看「混合平均年化」（易誤判為策略虧損），也不應只看「已平倉100%正報酬」（易誤判為零風險）；正確理解是：勝率高，但完成週期需要的時間沒有上限，期間資金以未平倉部位形式暴露於市價波動與FVTPL未實現損益認列。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⑤ Binance 雙幣投資（Dual Investment）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 OKX 之產品架構對比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754880"/>
                <a:gridCol w="432511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比較維度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Binance 雙幣投資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OKX 雙幣贏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產品期限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1 天至數週不等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依市場條件動態設定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標的資產豐富度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BTC、ETH 及多組主流交易對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BTC、ETH、USDT，六種投資策略組合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交割時間點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依產品條款固定時點交割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每日 UTC+8 16:30 結算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特色功能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Auto-Compound：Basic／Advanced方案，依是否觸及目標價自動再訂閱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提前贖回（Early Redemption）：可主動平倉，惟通常犧牲部分權利金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434840"/>
            <a:ext cx="3566160" cy="1691640"/>
          </a:xfrm>
          <a:prstGeom prst="roundRect">
            <a:avLst>
              <a:gd name="adj" fmla="val 4324"/>
            </a:avLst>
          </a:prstGeom>
          <a:solidFill>
            <a:srgbClr val="EFF6F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85800" y="4544568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4%–138%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74243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官方揭露存款貨幣年化區間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297680" y="4434840"/>
            <a:ext cx="3657600" cy="1691640"/>
          </a:xfrm>
          <a:prstGeom prst="roundRect">
            <a:avLst>
              <a:gd name="adj" fmla="val 4324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4498848" y="4581144"/>
            <a:ext cx="32552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歷史高點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4498848" y="4937760"/>
            <a:ext cx="325526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部分特定高波動性商品之歷史公告年化甚至達 175%。行使價越接近現貨、天期越短，年化通常越高，但轉換機率亦同步提高，與 OKX 定價邏輯一致。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8138160" y="4434840"/>
            <a:ext cx="3502152" cy="1691640"/>
          </a:xfrm>
          <a:prstGeom prst="roundRect">
            <a:avLst>
              <a:gd name="adj" fmla="val 4324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8339328" y="4581144"/>
            <a:ext cx="3099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財務運用場景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339328" y="4937760"/>
            <a:ext cx="3099816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高賣獲利了結：對已持有 BTC/ETH 部位設定目標賣出價｜低買策略性積累：搭配 Auto-Compound 系統化執行，惟須留意連續期間累積曝險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財務部專題：會計處理與外部審計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IFRS 認列基礎與 Big 4 查核複雜度對比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26080"/>
                <a:gridCol w="3383280"/>
                <a:gridCol w="25877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比較維度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Bitfinex USD 放貸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OKX/Binance 活期理財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OKX/Binance 雙幣理財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建議會計科目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現金及約當現金／短期金融資產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虛擬資產存貨或無形資產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嵌入式衍生工具（FVTPL）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計價貨幣風險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無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有（USDT 脫錨風險）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有（計價幣別＋標的雙重波動）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期末公允價值評價模型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不需複雜評價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需依市價評價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需選擇權定價模型（Black-Scholes）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減損測試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不適用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適用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適用（拆解主合約與衍生工具）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外部審計函證難度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中等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中等偏難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高難度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合規成本（相對排序）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低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中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高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16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五大策略綜合決策矩陣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Comprehensive Comparison Matrix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1947672"/>
                <a:gridCol w="2048256"/>
                <a:gridCol w="2048256"/>
                <a:gridCol w="2048256"/>
                <a:gridCol w="2048256"/>
                <a:gridCol w="2048256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指標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Bitfinex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OKX活期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Binance活期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OKX雙幣贏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Binance雙幣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收益本質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利息收入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利息（稀釋）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利息（稀釋）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選擇權權利金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選擇權權利金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百萬資金 APY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4.25–17.0%+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1.70–4.25%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約1.50%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名目4–138%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官方4–138%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本金保障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不受市場方向影響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承擔平台信用曝險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承擔平台信用曝險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可能強制轉換資產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可能強制轉換資產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Delta 風險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無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低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低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有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有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流動性召回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天期鎖定(2–120天)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即時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即時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鎖定至結算日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鎖定至結算日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會計複雜度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低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中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中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高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高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/ 16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財務部資產配置模擬模型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三種全配置權重方案｜本金 $1,000,000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63040"/>
          <a:ext cx="53949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463040"/>
          <a:ext cx="546811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777240"/>
                <a:gridCol w="777240"/>
                <a:gridCol w="868680"/>
                <a:gridCol w="731520"/>
                <a:gridCol w="896112"/>
                <a:gridCol w="96012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</a:rPr>
                        <a:t>模型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</a:rPr>
                        <a:t>Bitfinex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</a:rPr>
                        <a:t>OKX活期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</a:rPr>
                        <a:t>Binance活期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</a:rPr>
                        <a:t>OKX雙幣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</a:rPr>
                        <a:t>Binance雙幣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</a:rPr>
                        <a:t>年度收益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A 穩健防禦型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70%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10%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10%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5%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5%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$121,500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B 平衡收益型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55%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10%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10%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15%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10%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$173,600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C 戰術成長型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40%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10%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10%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20%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20%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$225,600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6172200" y="3520440"/>
            <a:ext cx="5468112" cy="960120"/>
          </a:xfrm>
          <a:prstGeom prst="roundRect">
            <a:avLst>
              <a:gd name="adj" fmla="val 761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7" name="Text 3"/>
          <p:cNvSpPr txBox="1"/>
          <p:nvPr/>
        </p:nvSpPr>
        <p:spPr>
          <a:xfrm>
            <a:off x="6373368" y="3666744"/>
            <a:ext cx="506577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無方向性曝險部位佔比：A 75%／B 55%／C 40%｜T+0 流動性緩衝均為 20%｜雙幣理財曝險合計：A 10%／B 25%／C 40%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548640" y="466344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749808" y="4809744"/>
            <a:ext cx="106920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方法論揭露（重要）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749808" y="5166360"/>
            <a:ext cx="1069207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雙幣理財之 45% 年化係採「未觸及行使價（價外到期）」情境計算，未反映觸價本金轉換損失。若納入機率加權情境分析，實際綜合年化將視市場波動與觸價機率顯著偏離本表數字，甚至於單一結算週期內轉為負值，詳見報告第 6、7 章情境試算。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 / 16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內控架構與推進時程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411480" cy="41148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35331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最小授權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3017520" y="135331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 僅開放出借／理財申購，物理封閉提幣與轉帳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057400"/>
            <a:ext cx="411480" cy="41148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0574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03911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IP 白名單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017520" y="203911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固定內部 VPC 出口 IP，企業 KMS 加密金鑰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2743200"/>
            <a:ext cx="411480" cy="41148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743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272491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OTM 緩衝門檻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3017520" y="272491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雙幣理財行使價距離建議 ≥ 8%，納入交易員 SOP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3429000"/>
            <a:ext cx="411480" cy="41148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4290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341071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Kill-Switch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3017520" y="341071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異常事件自動預警，觸發後停止新單並緊急處置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675120" y="1371600"/>
            <a:ext cx="1417320" cy="2743200"/>
          </a:xfrm>
          <a:prstGeom prst="roundRect">
            <a:avLst>
              <a:gd name="adj" fmla="val 516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93992" y="1508760"/>
            <a:ext cx="11795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1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793992" y="1874520"/>
            <a:ext cx="11795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會簽授權與 API 設定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6793992" y="3566160"/>
            <a:ext cx="1179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2–4 週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8092440" y="246888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348472" y="1371600"/>
            <a:ext cx="1417320" cy="2743200"/>
          </a:xfrm>
          <a:prstGeom prst="roundRect">
            <a:avLst>
              <a:gd name="adj" fmla="val 516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467344" y="1508760"/>
            <a:ext cx="11795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2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8467344" y="1874520"/>
            <a:ext cx="11795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小規模沙盒試點（五項工具）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8467344" y="3566160"/>
            <a:ext cx="1179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2–3 個月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9765792" y="246888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10021824" y="1371600"/>
            <a:ext cx="1417320" cy="2743200"/>
          </a:xfrm>
          <a:prstGeom prst="roundRect">
            <a:avLst>
              <a:gd name="adj" fmla="val 516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140696" y="1508760"/>
            <a:ext cx="11795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3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10140696" y="1874520"/>
            <a:ext cx="11795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常態化配置與自動化部署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10140696" y="3566160"/>
            <a:ext cx="1179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2 結束後 1 個月內啟動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548640" y="443484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48640" y="4617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下一步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50292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請財務部、風控委員會與法遵室完成本報告會簽，核定 Phase 1 啟動時程與各平台曝險上限、雙幣理財 OTM 緩衝門檻，以及模型 A／B／C 或客製化配置權重。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 / 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2026-09-05T16:05:55Z</dcterms:created>
  <dcterms:modified xsi:type="dcterms:W3CDTF">2026-09-05T16:05:55Z</dcterms:modified>
</cp:coreProperties>
</file>